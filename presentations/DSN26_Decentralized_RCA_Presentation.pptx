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CD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93"/>
    <p:restoredTop sz="94678"/>
  </p:normalViewPr>
  <p:slideViewPr>
    <p:cSldViewPr snapToGrid="0" snapToObjects="1">
      <p:cViewPr>
        <p:scale>
          <a:sx n="110" d="100"/>
          <a:sy n="110" d="100"/>
        </p:scale>
        <p:origin x="5384" y="10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C1AA18-5115-0149-8B24-03A14CA042F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4D334-7967-3D4D-91B1-8E9B1BF17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26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4D334-7967-3D4D-91B1-8E9B1BF171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09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DSN 2026  |  Industry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 Light"/>
              </a:defRPr>
            </a:pPr>
            <a:r>
              <a:rPr dirty="0"/>
              <a:t>Decentralized Root Cause Analysis</a:t>
            </a:r>
            <a:br>
              <a:rPr lang="en-US" dirty="0"/>
            </a:br>
            <a:r>
              <a:rPr dirty="0"/>
              <a:t>for Cloud-Native Microservices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03520"/>
            <a:ext cx="292608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2A4A"/>
                </a:solidFill>
                <a:latin typeface="Calibri"/>
              </a:defRPr>
            </a:pPr>
            <a:r>
              <a:t>94.7%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97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Calibri"/>
              </a:defRPr>
            </a:pPr>
            <a:r>
              <a:t>Top-1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303520"/>
            <a:ext cx="292608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5394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2A4A"/>
                </a:solidFill>
                <a:latin typeface="Calibri"/>
              </a:defRPr>
            </a:pPr>
            <a:r>
              <a:t>32%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897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Calibri"/>
              </a:defRPr>
            </a:pPr>
            <a:r>
              <a:t>Faster Diagnosis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5303520"/>
            <a:ext cx="292608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5394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2A4A"/>
                </a:solidFill>
                <a:latin typeface="Calibri"/>
              </a:defRPr>
            </a:pPr>
            <a:r>
              <a:t>74.5%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897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Calibri"/>
              </a:defRPr>
            </a:pPr>
            <a:r>
              <a:t>Less Network Traffic</a:t>
            </a:r>
          </a:p>
        </p:txBody>
      </p:sp>
      <p:pic>
        <p:nvPicPr>
          <p:cNvPr id="16" name="Picture 15" descr="DSN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6748" y="6145107"/>
            <a:ext cx="822960" cy="6858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1746422" y="2673012"/>
            <a:ext cx="1828800" cy="1828800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949514" y="2733715"/>
            <a:ext cx="1828800" cy="1828800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habbir_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7862" y="2749779"/>
            <a:ext cx="1645920" cy="1645920"/>
          </a:xfrm>
          <a:prstGeom prst="rect">
            <a:avLst/>
          </a:prstGeom>
        </p:spPr>
      </p:pic>
      <p:pic>
        <p:nvPicPr>
          <p:cNvPr id="20" name="Picture 19" descr="hari_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0954" y="2825155"/>
            <a:ext cx="1645920" cy="1645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85610" y="4553186"/>
            <a:ext cx="15504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rPr sz="1600" dirty="0"/>
              <a:t>Shabbir Hussain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6811" y="4594463"/>
            <a:ext cx="201420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rPr sz="1600" dirty="0"/>
              <a:t>Hari C</a:t>
            </a:r>
            <a:r>
              <a:rPr lang="en-US" sz="1600" dirty="0"/>
              <a:t>haran</a:t>
            </a:r>
            <a:r>
              <a:rPr sz="1600" dirty="0"/>
              <a:t> Panjwani</a:t>
            </a:r>
          </a:p>
        </p:txBody>
      </p:sp>
      <p:pic>
        <p:nvPicPr>
          <p:cNvPr id="53" name="Audio 52">
            <a:extLst>
              <a:ext uri="{FF2B5EF4-FFF2-40B4-BE49-F238E27FC236}">
                <a16:creationId xmlns:a16="http://schemas.microsoft.com/office/drawing/2014/main" id="{57202715-5E79-3D1C-65BF-A022EE1584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721"/>
    </mc:Choice>
    <mc:Fallback>
      <p:transition spd="slow" advTm="1007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Calibri Light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Calibri"/>
              </a:defRPr>
            </a:pPr>
            <a:r>
              <a:t>Why centralized RCA becomes the bottleneck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Calibri"/>
              </a:rPr>
              <a:t>• Failure cascades across dependent services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Calibri"/>
              </a:rPr>
              <a:t>• Central telemetry pipeline buckles under peak load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Calibri"/>
              </a:rPr>
              <a:t>• Diagnostic system slowest when you need it most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Calibri"/>
              </a:rPr>
              <a:t>• Data residency blocks central collection (multi-cloud)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Calibri"/>
              </a:rPr>
              <a:t>• Single point of failure in the diagnostic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68544"/>
            <a:ext cx="4389120" cy="38404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3B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rPr dirty="0"/>
              <a:t>Research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286000"/>
            <a:ext cx="3840480" cy="160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dirty="0">
                <a:solidFill>
                  <a:srgbClr val="2C3E6B"/>
                </a:solidFill>
                <a:latin typeface="Calibri"/>
              </a:rPr>
              <a:t>• Fernando et al. — testbed only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dirty="0">
                <a:solidFill>
                  <a:srgbClr val="2C3E6B"/>
                </a:solidFill>
                <a:latin typeface="Calibri"/>
              </a:rPr>
              <a:t>• Zhang et al. — offline trace replay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dirty="0">
                <a:solidFill>
                  <a:srgbClr val="2C3E6B"/>
                </a:solidFill>
                <a:latin typeface="Calibri"/>
              </a:rPr>
              <a:t>• No decentralized RCA deployed
  on live production traffic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dirty="0">
                <a:solidFill>
                  <a:srgbClr val="2C3E6B"/>
                </a:solidFill>
                <a:latin typeface="Calibri"/>
              </a:rPr>
              <a:t>• We fill this gap with a</a:t>
            </a:r>
            <a:r>
              <a:rPr lang="en-US" sz="1300" dirty="0">
                <a:solidFill>
                  <a:srgbClr val="2C3E6B"/>
                </a:solidFill>
                <a:latin typeface="Calibri"/>
              </a:rPr>
              <a:t> </a:t>
            </a:r>
            <a:r>
              <a:rPr sz="1300" dirty="0">
                <a:solidFill>
                  <a:srgbClr val="2C3E6B"/>
                </a:solidFill>
                <a:latin typeface="Calibri"/>
              </a:rPr>
              <a:t>production deployment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S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6035040"/>
            <a:ext cx="822960" cy="685800"/>
          </a:xfrm>
          <a:prstGeom prst="rect">
            <a:avLst/>
          </a:prstGeom>
        </p:spPr>
      </p:pic>
      <p:pic>
        <p:nvPicPr>
          <p:cNvPr id="50" name="Audio 49">
            <a:extLst>
              <a:ext uri="{FF2B5EF4-FFF2-40B4-BE49-F238E27FC236}">
                <a16:creationId xmlns:a16="http://schemas.microsoft.com/office/drawing/2014/main" id="{689EE9F9-B3F1-F09B-4CEA-66E9DADEC4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076"/>
    </mc:Choice>
    <mc:Fallback>
      <p:transition spd="slow" advTm="790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Calibri Light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Calibri"/>
              </a:defRPr>
            </a:pPr>
            <a:r>
              <a:t>No central coordinator — raw telemetry stays local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47120" cy="393192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3B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5E9E"/>
                </a:solidFill>
                <a:latin typeface="Calibri"/>
              </a:defRPr>
            </a:pPr>
            <a:r>
              <a:t>Kubernetes Cluster (2 AZs)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920240" cy="2743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237744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Catalogue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474720"/>
            <a:ext cx="1645920" cy="10972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7B8A"/>
                </a:solidFill>
                <a:latin typeface="Calibri"/>
              </a:defRPr>
            </a:pPr>
            <a:r>
              <a:t>Diagnostic</a:t>
            </a:r>
            <a:br/>
            <a:r>
              <a:t>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103120"/>
            <a:ext cx="1920240" cy="2743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3B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154680" y="237744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Cart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3474720"/>
            <a:ext cx="1645920" cy="10972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7B8A"/>
                </a:solidFill>
                <a:latin typeface="Calibri"/>
              </a:defRPr>
            </a:pPr>
            <a:r>
              <a:t>Diagnostic</a:t>
            </a:r>
            <a:br/>
            <a:r>
              <a:t>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103120"/>
            <a:ext cx="1920240" cy="2743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E8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349240" y="237744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Checkout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3474720"/>
            <a:ext cx="1645920" cy="10972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7B8A"/>
                </a:solidFill>
                <a:latin typeface="Calibri"/>
              </a:defRPr>
            </a:pPr>
            <a:r>
              <a:t>Diagnostic</a:t>
            </a:r>
            <a:br/>
            <a: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103120"/>
            <a:ext cx="1920240" cy="2743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6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543800" y="237744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Payment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474720"/>
            <a:ext cx="1645920" cy="10972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7B8A"/>
                </a:solidFill>
                <a:latin typeface="Calibri"/>
              </a:defRPr>
            </a:pPr>
            <a:r>
              <a:t>Diagnostic</a:t>
            </a:r>
            <a:br/>
            <a:r>
              <a:t>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2103120"/>
            <a:ext cx="1920240" cy="2743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738360" y="237744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Shipping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3474720"/>
            <a:ext cx="1645920" cy="10972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7B8A"/>
                </a:solidFill>
                <a:latin typeface="Calibri"/>
              </a:defRPr>
            </a:pPr>
            <a:r>
              <a:t>Diagnostic</a:t>
            </a:r>
            <a:br/>
            <a: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B5E9E"/>
                </a:solidFill>
                <a:latin typeface="Calibri"/>
              </a:defRPr>
            </a:pPr>
            <a:r>
              <a:t>◀──── Gossip: score vectors (~200 bytes/msg) ────▶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B8A"/>
                </a:solidFill>
                <a:latin typeface="Calibri"/>
              </a:defRPr>
            </a:pPr>
            <a:r>
              <a:t>✓ No central collector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6692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B8A"/>
                </a:solidFill>
                <a:latin typeface="Calibri"/>
              </a:defRPr>
            </a:pPr>
            <a:r>
              <a:t>✓ Telemetry processed locally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6692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B8A"/>
                </a:solidFill>
                <a:latin typeface="Calibri"/>
              </a:defRPr>
            </a:pPr>
            <a:r>
              <a:t>✓ Only scores cross 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6692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B8A"/>
                </a:solidFill>
                <a:latin typeface="Calibri"/>
              </a:defRPr>
            </a:pPr>
            <a:r>
              <a:t>✓ 6–12 rounds to converge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6692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B8A"/>
                </a:solidFill>
                <a:latin typeface="Calibri"/>
              </a:defRPr>
            </a:pPr>
            <a:r>
              <a:t>✓ &gt;85% confidence → auto-remediate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DS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6035040"/>
            <a:ext cx="822960" cy="685800"/>
          </a:xfrm>
          <a:prstGeom prst="rect">
            <a:avLst/>
          </a:prstGeom>
        </p:spPr>
      </p:pic>
      <p:pic>
        <p:nvPicPr>
          <p:cNvPr id="62" name="Audio 61">
            <a:extLst>
              <a:ext uri="{FF2B5EF4-FFF2-40B4-BE49-F238E27FC236}">
                <a16:creationId xmlns:a16="http://schemas.microsoft.com/office/drawing/2014/main" id="{1A73A7CB-B702-0972-F3E7-E5C0BFDA4B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122"/>
    </mc:Choice>
    <mc:Fallback>
      <p:transition spd="slow" advTm="761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Calibri Light"/>
              </a:defRPr>
            </a:pPr>
            <a:r>
              <a:rPr dirty="0"/>
              <a:t>Three-Stage Inference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383280" cy="32004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A"/>
                </a:solidFill>
                <a:latin typeface="Calibri"/>
              </a:defRPr>
            </a:pPr>
            <a:r>
              <a:t>1  Local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• Prometheus metrics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• Log template deviations (Drain)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• Trace latency / error patterns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• → Single scalar score sᵢ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0E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32004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3B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5E9E"/>
                </a:solidFill>
                <a:latin typeface="Calibri"/>
              </a:defRPr>
            </a:pPr>
            <a:r>
              <a:t>2  Distributed PageRank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• rᵢ ← (1−α)·Σ Pji·rj + α·sᵢ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• α = 0.15 (teleport)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• Neighbor values via gossip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• O(degree) per iteration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0E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63040"/>
            <a:ext cx="3383280" cy="32004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E8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885B"/>
                </a:solidFill>
                <a:latin typeface="Calibri"/>
              </a:defRPr>
            </a:pPr>
            <a:r>
              <a:t>3  Consensus &amp;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• Converge: ‖Δr‖₁ &lt; ε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• Highest rank = root cause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• Independent at every node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• Remediate: restart / scale / reroute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11247120" cy="13716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Key Properties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• Geometric convergence (sub-stochastic 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486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• Work bounded by local degree, not graph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52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• No global synchronization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852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• Consensus at every node independently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S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6035040"/>
            <a:ext cx="822960" cy="685800"/>
          </a:xfrm>
          <a:prstGeom prst="rect">
            <a:avLst/>
          </a:prstGeom>
        </p:spPr>
      </p:pic>
      <p:pic>
        <p:nvPicPr>
          <p:cNvPr id="55" name="Audio 54">
            <a:extLst>
              <a:ext uri="{FF2B5EF4-FFF2-40B4-BE49-F238E27FC236}">
                <a16:creationId xmlns:a16="http://schemas.microsoft.com/office/drawing/2014/main" id="{57E4C949-F9B1-4CC8-DFBB-33C0F35BF0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743"/>
    </mc:Choice>
    <mc:Fallback>
      <p:transition spd="slow" advTm="797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Calibri Light"/>
              </a:defRPr>
            </a:pPr>
            <a:r>
              <a:t>Benchmark: RCAEval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Calibri"/>
              </a:defRPr>
            </a:pPr>
            <a:r>
              <a:t>735 failure cases  •  12–64 services  •  5 runs  •  95% CI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Workload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Top-1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Top-3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Traffic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Online Boutique (12 svc)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Sock Shop (28 svc)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93.1%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98.4%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1.14s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0.22 GB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Train Ticket (64 svc)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0.43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Aggregate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94.7%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98.8%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1.21s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0.28 GB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89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Centralized baseline: 94.1% Top-1  |  1.78s  |  1.10 GB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45920"/>
            <a:ext cx="3931920" cy="13716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1783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8A"/>
                </a:solidFill>
                <a:latin typeface="Calibri"/>
              </a:defRPr>
            </a:pPr>
            <a:r>
              <a:t>Equivalent</a:t>
            </a:r>
            <a:br/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7830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94.7% vs 94.1%</a:t>
            </a:r>
            <a:br/>
            <a:r>
              <a:t>(CI overlap — no</a:t>
            </a:r>
            <a:br/>
            <a:r>
              <a:t>statistical difference)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291840"/>
            <a:ext cx="3931920" cy="13716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3B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34290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5E9E"/>
                </a:solidFill>
                <a:latin typeface="Calibri"/>
              </a:defRPr>
            </a:pPr>
            <a:r>
              <a:t>32% Faster</a:t>
            </a:r>
            <a:br/>
            <a:r>
              <a:t>Diagnosis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4290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Gap widens at scale:</a:t>
            </a:r>
            <a:br/>
            <a:r>
              <a:t>27% at 12 svc</a:t>
            </a:r>
            <a:br/>
            <a:r>
              <a:t>36% at 64 svc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937760"/>
            <a:ext cx="3931920" cy="13716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E8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50749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85B"/>
                </a:solidFill>
                <a:latin typeface="Calibri"/>
              </a:defRPr>
            </a:pPr>
            <a:r>
              <a:t>75% Less</a:t>
            </a:r>
            <a:br/>
            <a:r>
              <a:t>Traffic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5074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Scores only, not raw</a:t>
            </a:r>
            <a:br/>
            <a:r>
              <a:t>telemetry. 0.28 vs</a:t>
            </a:r>
            <a:br/>
            <a:r>
              <a:t>1.10 GB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DS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6035040"/>
            <a:ext cx="822960" cy="685800"/>
          </a:xfrm>
          <a:prstGeom prst="rect">
            <a:avLst/>
          </a:prstGeom>
        </p:spPr>
      </p:pic>
      <p:pic>
        <p:nvPicPr>
          <p:cNvPr id="44" name="Audio 43">
            <a:extLst>
              <a:ext uri="{FF2B5EF4-FFF2-40B4-BE49-F238E27FC236}">
                <a16:creationId xmlns:a16="http://schemas.microsoft.com/office/drawing/2014/main" id="{F595D5D8-7BD6-81E0-B1DC-7B03538AA0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566"/>
    </mc:Choice>
    <mc:Fallback>
      <p:transition spd="slow" advTm="765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Calibri Light"/>
              </a:defRPr>
            </a:pPr>
            <a:r>
              <a:t>Production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Calibri"/>
              </a:defRPr>
            </a:pPr>
            <a:r>
              <a:t>4 weeks on live e-commerce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Calibri"/>
              </a:rPr>
              <a:t>• Mid-size e-commerce, ~120 microservices, 14K QPS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Calibri"/>
              </a:rPr>
              <a:t>• 15 m5.4xlarge nodes across 2 AZs (AWS EKS)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Calibri"/>
              </a:rPr>
              <a:t>• 1% live traffic via weighted ingress (~140 QPS)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Calibri"/>
              </a:rPr>
              <a:t>• Same SLOs as primary production path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Calibri"/>
              </a:rPr>
              <a:t>• Kill switch: disable if error rate &gt; 0.5%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Calibri"/>
              </a:rPr>
              <a:t>• 112 injected faults + 3 organic incidents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16775" y="1097280"/>
            <a:ext cx="4389120" cy="4114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3B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Why this deployment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28600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dirty="0">
                <a:solidFill>
                  <a:srgbClr val="555555"/>
                </a:solidFill>
                <a:latin typeface="Calibri"/>
              </a:rPr>
              <a:t>• 2 AZs → real cross-zone effects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dirty="0">
                <a:solidFill>
                  <a:srgbClr val="555555"/>
                </a:solidFill>
                <a:latin typeface="Calibri"/>
              </a:rPr>
              <a:t>• Diameter 5 → non-trivial gossip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dirty="0">
                <a:solidFill>
                  <a:srgbClr val="555555"/>
                </a:solidFill>
                <a:latin typeface="Calibri"/>
              </a:rPr>
              <a:t>• Mix: APIs, DBs, caches, gateway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dirty="0">
                <a:solidFill>
                  <a:srgbClr val="555555"/>
                </a:solidFill>
                <a:latin typeface="Calibri"/>
              </a:rPr>
              <a:t>• Real operators, real SLOs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dirty="0">
                <a:solidFill>
                  <a:srgbClr val="555555"/>
                </a:solidFill>
                <a:latin typeface="Calibri"/>
              </a:rPr>
              <a:t>• Production phenomena cannot be
  reproduced in benchmarks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S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6035040"/>
            <a:ext cx="822960" cy="685800"/>
          </a:xfrm>
          <a:prstGeom prst="rect">
            <a:avLst/>
          </a:prstGeom>
        </p:spPr>
      </p:pic>
      <p:pic>
        <p:nvPicPr>
          <p:cNvPr id="30" name="Audio 29">
            <a:extLst>
              <a:ext uri="{FF2B5EF4-FFF2-40B4-BE49-F238E27FC236}">
                <a16:creationId xmlns:a16="http://schemas.microsoft.com/office/drawing/2014/main" id="{C147205E-3A4D-1262-3FA2-49857F30BF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369"/>
    </mc:Choice>
    <mc:Fallback>
      <p:transition spd="slow" advTm="683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Calibri Light"/>
              </a:defRPr>
            </a:pPr>
            <a:r>
              <a:t>Production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Calibri"/>
              </a:defRPr>
            </a:pPr>
            <a:r>
              <a:t>28 days, 115 total incidents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018356"/>
              </p:ext>
            </p:extLst>
          </p:nvPr>
        </p:nvGraphicFramePr>
        <p:xfrm>
          <a:off x="457200" y="1566055"/>
          <a:ext cx="7315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Top-1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MTTD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MTTR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Resource saturation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Network faults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90.3%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1.82s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63s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Disk I/O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Application misconfig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1.47s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Organic (not injected)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33.3%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2.80s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58s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115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93.9%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1.24s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rPr dirty="0"/>
                        <a:t>48s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0" y="1554480"/>
            <a:ext cx="3474720" cy="2286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vs. Centralized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116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• 31% faster diagnosis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• 44% faster resolution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• Accuracy: 93.9 vs 92.3%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62828"/>
                </a:solidFill>
                <a:latin typeface="Calibri"/>
              </a:defRPr>
            </a:pPr>
            <a:r>
              <a:rPr dirty="0"/>
              <a:t>Critical finding:  Injected faults = 94.6%  vs.  Organic incidents = 33.3% (1/3)</a:t>
            </a:r>
            <a:br>
              <a:rPr dirty="0"/>
            </a:br>
            <a:r>
              <a:rPr dirty="0"/>
              <a:t>Fault injection produces clean signatures; real failures develop gradually and involve external dependencies.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DS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6035040"/>
            <a:ext cx="822960" cy="685800"/>
          </a:xfrm>
          <a:prstGeom prst="rect">
            <a:avLst/>
          </a:prstGeom>
        </p:spPr>
      </p:pic>
      <p:pic>
        <p:nvPicPr>
          <p:cNvPr id="36" name="Audio 35">
            <a:extLst>
              <a:ext uri="{FF2B5EF4-FFF2-40B4-BE49-F238E27FC236}">
                <a16:creationId xmlns:a16="http://schemas.microsoft.com/office/drawing/2014/main" id="{8189D07A-2530-28FE-F603-409F8E3174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9180"/>
    </mc:Choice>
    <mc:Fallback>
      <p:transition spd="slow" advTm="1091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Calibri Light"/>
              </a:defRPr>
            </a:pPr>
            <a:r>
              <a:t>Case Study: EBS Throttling (O-3)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Calibri"/>
              </a:defRPr>
            </a:pPr>
            <a:r>
              <a:t>Week 3, 2:47 AM — EBS backup hits IOPS limit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173736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965960"/>
            <a:ext cx="411480" cy="41148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Catalogue-DB</a:t>
            </a:r>
            <a:br/>
            <a:r>
              <a:t>latency 12→340ms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62828"/>
                </a:solidFill>
                <a:latin typeface="Calibri"/>
              </a:defRPr>
            </a:pPr>
            <a:r>
              <a:t>s = 0.91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828800"/>
            <a:ext cx="173736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6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926080" y="1965960"/>
            <a:ext cx="411480" cy="411480"/>
          </a:xfrm>
          <a:prstGeom prst="ellipse">
            <a:avLst/>
          </a:prstGeom>
          <a:solidFill>
            <a:srgbClr val="E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FrontEnd</a:t>
            </a:r>
            <a:br/>
            <a:r>
              <a:t>trace latency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749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6A00"/>
                </a:solidFill>
                <a:latin typeface="Calibri"/>
              </a:defRPr>
            </a:pPr>
            <a:r>
              <a:t>s = 0.62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828800"/>
            <a:ext cx="173736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6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46320" y="1965960"/>
            <a:ext cx="411480" cy="411480"/>
          </a:xfrm>
          <a:prstGeom prst="ellipse">
            <a:avLst/>
          </a:prstGeom>
          <a:solidFill>
            <a:srgbClr val="E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Orders</a:t>
            </a:r>
            <a:br/>
            <a:r>
              <a:t>timeout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49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6A00"/>
                </a:solidFill>
                <a:latin typeface="Calibri"/>
              </a:defRPr>
            </a:pPr>
            <a:r>
              <a:t>s = 0.45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828800"/>
            <a:ext cx="173736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E8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66560" y="1965960"/>
            <a:ext cx="411480" cy="411480"/>
          </a:xfrm>
          <a:prstGeom prst="ellipse">
            <a:avLst/>
          </a:prstGeom>
          <a:solidFill>
            <a:srgbClr val="1E8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Cart (unaffected)</a:t>
            </a:r>
            <a:br/>
            <a:r>
              <a:t>negative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749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885B"/>
                </a:solidFill>
                <a:latin typeface="Calibri"/>
              </a:defRPr>
            </a:pPr>
            <a:r>
              <a:t>s = 0.15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828800"/>
            <a:ext cx="173736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3B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86800" y="1965960"/>
            <a:ext cx="411480" cy="411480"/>
          </a:xfrm>
          <a:prstGeom prst="ellipse">
            <a:avLst/>
          </a:prstGeom>
          <a:solidFill>
            <a:srgbClr val="3B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Gossip converge</a:t>
            </a:r>
            <a:br/>
            <a:r>
              <a:t>7 rounds ≈ 1.0s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749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5E9E"/>
                </a:solidFill>
                <a:latin typeface="Calibri"/>
              </a:defRPr>
            </a:pPr>
            <a:r>
              <a:t>93% conf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1828800"/>
            <a:ext cx="173736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607040" y="1965960"/>
            <a:ext cx="411480" cy="411480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Remediate</a:t>
            </a:r>
            <a:br/>
            <a:r>
              <a:t>pod restart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749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B8A"/>
                </a:solidFill>
                <a:latin typeface="Calibri"/>
              </a:defRPr>
            </a:pPr>
            <a:r>
              <a:t>41s total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846320"/>
            <a:ext cx="11247120" cy="9144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A4A"/>
                </a:solidFill>
                <a:latin typeface="Calibri"/>
              </a:defRPr>
            </a:pPr>
            <a:r>
              <a:t>Key insight: Low score from unaffected neighbor (Cart = 0.15) prevents blame-spreading — acts as a negative vote in the PageRank computation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DS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6035040"/>
            <a:ext cx="822960" cy="685800"/>
          </a:xfrm>
          <a:prstGeom prst="rect">
            <a:avLst/>
          </a:prstGeom>
        </p:spPr>
      </p:pic>
      <p:pic>
        <p:nvPicPr>
          <p:cNvPr id="78" name="Audio 77">
            <a:extLst>
              <a:ext uri="{FF2B5EF4-FFF2-40B4-BE49-F238E27FC236}">
                <a16:creationId xmlns:a16="http://schemas.microsoft.com/office/drawing/2014/main" id="{6E08C899-1438-2CA5-D116-6963C8D972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301"/>
    </mc:Choice>
    <mc:Fallback>
      <p:transition spd="slow" advTm="843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Calibri Light"/>
              </a:defRPr>
            </a:pPr>
            <a:r>
              <a:t>Operational Lessons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280" y="116205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Calibri"/>
              </a:defRPr>
            </a:pPr>
            <a:r>
              <a:rPr dirty="0"/>
              <a:t>What benchmarks don't show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566160" cy="2286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Calibri"/>
              </a:defRPr>
            </a:pPr>
            <a:r>
              <a:t>Cross-AZ Split Brain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555555"/>
                </a:solidFill>
                <a:latin typeface="Calibri"/>
              </a:rPr>
              <a:t>• Gossip 2–5× slower cross-zone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55555"/>
                </a:solidFill>
                <a:latin typeface="Calibri"/>
              </a:rPr>
              <a:t>• 4/115 split convergence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55555"/>
                </a:solidFill>
                <a:latin typeface="Calibri"/>
              </a:rPr>
              <a:t>• NetworkPolicy blocked 18h undetected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3566160" cy="2286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Calibri"/>
              </a:defRPr>
            </a:pPr>
            <a:r>
              <a:t>Resource Budgets Too 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7452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555555"/>
                </a:solidFill>
                <a:latin typeface="Calibri"/>
              </a:rPr>
              <a:t>• Benchmark sizing insufficient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55555"/>
                </a:solidFill>
                <a:latin typeface="Calibri"/>
              </a:rPr>
              <a:t>• OOM-killed 3× in Week 1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55555"/>
                </a:solidFill>
                <a:latin typeface="Calibri"/>
              </a:rPr>
              <a:t>• Fix: burstable (200m/256Mi)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566160" cy="2286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6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8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6A00"/>
                </a:solidFill>
                <a:latin typeface="Calibri"/>
              </a:defRPr>
            </a:pPr>
            <a:r>
              <a:t>One Threshold ≠ 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87452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555555"/>
                </a:solidFill>
                <a:latin typeface="Calibri"/>
              </a:rPr>
              <a:t>• Global τ=2.0 → 8.7% FP rate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55555"/>
                </a:solidFill>
                <a:latin typeface="Calibri"/>
              </a:rPr>
              <a:t>• 3-tier: τ=2/4/6 by service type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55555"/>
                </a:solidFill>
                <a:latin typeface="Calibri"/>
              </a:rPr>
              <a:t>• FP dropped to 0.8%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3566160" cy="2286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6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6A00"/>
                </a:solidFill>
                <a:latin typeface="Calibri"/>
              </a:defRPr>
            </a:pPr>
            <a:r>
              <a:t>Stale Graph = Silent Corruption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3484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dirty="0">
                <a:solidFill>
                  <a:srgbClr val="555555"/>
                </a:solidFill>
                <a:latin typeface="Calibri"/>
              </a:rPr>
              <a:t>• Canary changed dependency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555555"/>
                </a:solidFill>
                <a:latin typeface="Calibri"/>
              </a:rPr>
              <a:t>• Wrong attribution for 12 min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555555"/>
                </a:solidFill>
                <a:latin typeface="Calibri"/>
              </a:rPr>
              <a:t>• Fix: 2-min refresh + K8s watch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023360"/>
            <a:ext cx="3566160" cy="2286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3B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4114800"/>
            <a:ext cx="3291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5E9E"/>
                </a:solidFill>
                <a:latin typeface="Calibri"/>
              </a:defRPr>
            </a:pPr>
            <a:r>
              <a:rPr lang="en-US" dirty="0"/>
              <a:t>SREs</a:t>
            </a:r>
            <a:r>
              <a:rPr dirty="0"/>
              <a:t> Don't Trust </a:t>
            </a:r>
            <a:r>
              <a:rPr lang="en-US" dirty="0"/>
              <a:t>New Systems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4343400" y="443484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555555"/>
                </a:solidFill>
                <a:latin typeface="Calibri"/>
              </a:rPr>
              <a:t>• 58% re-investigation initially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55555"/>
                </a:solidFill>
                <a:latin typeface="Calibri"/>
              </a:rPr>
              <a:t>• Added Grafana links → 12%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55555"/>
                </a:solidFill>
                <a:latin typeface="Calibri"/>
              </a:rPr>
              <a:t>• Trust: 2.8/5 after 4 weeks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023360"/>
            <a:ext cx="3566160" cy="2286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3B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4114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5E9E"/>
                </a:solidFill>
                <a:latin typeface="Calibri"/>
              </a:defRPr>
            </a:pPr>
            <a:r>
              <a:t>External Deps Invisible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43484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555555"/>
                </a:solidFill>
                <a:latin typeface="Calibri"/>
              </a:rPr>
              <a:t>• Route53, AWS APIs outside network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55555"/>
                </a:solidFill>
                <a:latin typeface="Calibri"/>
              </a:rPr>
              <a:t>• Organic O-2 misdiagnosed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55555"/>
                </a:solidFill>
                <a:latin typeface="Calibri"/>
              </a:rPr>
              <a:t>• Sentinel agents: partial fix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S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6035040"/>
            <a:ext cx="822960" cy="685800"/>
          </a:xfrm>
          <a:prstGeom prst="rect">
            <a:avLst/>
          </a:prstGeom>
        </p:spPr>
      </p:pic>
      <p:pic>
        <p:nvPicPr>
          <p:cNvPr id="78" name="Audio 77">
            <a:extLst>
              <a:ext uri="{FF2B5EF4-FFF2-40B4-BE49-F238E27FC236}">
                <a16:creationId xmlns:a16="http://schemas.microsoft.com/office/drawing/2014/main" id="{50523D38-4017-BB8A-7BE4-7F0902D37B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5178"/>
    </mc:Choice>
    <mc:Fallback>
      <p:transition spd="slow" advTm="1051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Calibri Light"/>
              </a:defRPr>
            </a:pPr>
            <a:r>
              <a:t>Limitations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t>What we cannot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• Small scale: 15 nodes, 140 QPS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• Only 3 organic incidents (too few for stats)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• Baselines are reimplementations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• No Byzantine fault tolerance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• Single root cause assumption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• Operator trust: 2.8/5 after 4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885B"/>
                </a:solidFill>
                <a:latin typeface="Calibri"/>
              </a:defRPr>
            </a:pPr>
            <a:r>
              <a:t>Planned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• 200+ nodes, 5% traffic (next month)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• Hierarchical gossip for cross-AZ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• Per-service adaptive thresholds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• Multi-root-cause detection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• LLM-augmented anomaly scoring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• Longer trust-building with operators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3B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A4A"/>
                </a:solidFill>
                <a:latin typeface="Calibri"/>
              </a:defRPr>
            </a:pPr>
            <a:r>
              <a:t>Open question: Does hierarchical gossip (intra-AZ → cross-AZ summary exchange) fix split-brain, or just move it to a different layer?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S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6035040"/>
            <a:ext cx="822960" cy="685800"/>
          </a:xfrm>
          <a:prstGeom prst="rect">
            <a:avLst/>
          </a:prstGeom>
        </p:spPr>
      </p:pic>
      <p:pic>
        <p:nvPicPr>
          <p:cNvPr id="57" name="Audio 56">
            <a:extLst>
              <a:ext uri="{FF2B5EF4-FFF2-40B4-BE49-F238E27FC236}">
                <a16:creationId xmlns:a16="http://schemas.microsoft.com/office/drawing/2014/main" id="{3453E9BC-C553-46B1-8B33-58C8ECE633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206"/>
    </mc:Choice>
    <mc:Fallback>
      <p:transition spd="slow" advTm="482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7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Calibri Light"/>
              </a:defRPr>
            </a:pPr>
            <a:r>
              <a:t>Key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A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65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Fully decentralized RCA — no coordinator,</a:t>
            </a:r>
            <a:br/>
            <a:r>
              <a:t>no centralized telemetry, gossip-based PPR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2697480"/>
            <a:ext cx="96012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926079"/>
            <a:ext cx="502920" cy="502920"/>
          </a:xfrm>
          <a:prstGeom prst="ellipse">
            <a:avLst/>
          </a:prstGeom>
          <a:solidFill>
            <a:srgbClr val="3B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80359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5E9E"/>
                </a:solidFill>
                <a:latin typeface="Calibri"/>
              </a:defRPr>
            </a:pPr>
            <a:r>
              <a:rPr dirty="0"/>
              <a:t>Production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24611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4 weeks on live traffic — 94.7% benchmark,</a:t>
            </a:r>
            <a:br/>
            <a:r>
              <a:t>93.9% production, 32% lower latency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3977639"/>
            <a:ext cx="96012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E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6A00"/>
                </a:solidFill>
                <a:latin typeface="Calibri"/>
              </a:defRPr>
            </a:pPr>
            <a:r>
              <a:t>Operational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26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Cross-AZ fragility, threshold heterogeneity,</a:t>
            </a:r>
            <a:br/>
            <a:r>
              <a:t>graph staleness, operator trust dynamics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5257800"/>
            <a:ext cx="96012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5486399"/>
            <a:ext cx="502920" cy="5029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440679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rPr dirty="0"/>
              <a:t>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80643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Show where it fails: 1/3 organic, injected ≠</a:t>
            </a:r>
            <a:br/>
            <a:r>
              <a:t>organic, clean vs. gradual signatures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S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6035040"/>
            <a:ext cx="822960" cy="685800"/>
          </a:xfrm>
          <a:prstGeom prst="rect">
            <a:avLst/>
          </a:prstGeom>
        </p:spPr>
      </p:pic>
      <p:pic>
        <p:nvPicPr>
          <p:cNvPr id="54" name="Audio 53">
            <a:extLst>
              <a:ext uri="{FF2B5EF4-FFF2-40B4-BE49-F238E27FC236}">
                <a16:creationId xmlns:a16="http://schemas.microsoft.com/office/drawing/2014/main" id="{099B247E-7924-B09B-9BFF-096BBBE29C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143"/>
    </mc:Choice>
    <mc:Fallback>
      <p:transition spd="slow" advTm="491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B2A4A"/>
                </a:solidFill>
                <a:latin typeface="Calibri Light"/>
              </a:defRPr>
            </a:pPr>
            <a:r>
              <a:rPr dirty="0"/>
              <a:t>Thank You</a:t>
            </a:r>
          </a:p>
        </p:txBody>
      </p:sp>
      <p:pic>
        <p:nvPicPr>
          <p:cNvPr id="7" name="Picture 6" descr="DS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6035040"/>
            <a:ext cx="822960" cy="685800"/>
          </a:xfrm>
          <a:prstGeom prst="rect">
            <a:avLst/>
          </a:prstGeom>
        </p:spPr>
      </p:pic>
      <p:pic>
        <p:nvPicPr>
          <p:cNvPr id="35" name="Audio 34">
            <a:extLst>
              <a:ext uri="{FF2B5EF4-FFF2-40B4-BE49-F238E27FC236}">
                <a16:creationId xmlns:a16="http://schemas.microsoft.com/office/drawing/2014/main" id="{28BCE31F-62AD-4162-252A-52C4066AE0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13"/>
    </mc:Choice>
    <mc:Fallback>
      <p:transition spd="slow" advTm="79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1125</Words>
  <Application>Microsoft Macintosh PowerPoint</Application>
  <PresentationFormat>Widescreen</PresentationFormat>
  <Paragraphs>237</Paragraphs>
  <Slides>12</Slides>
  <Notes>1</Notes>
  <HiddenSlides>0</HiddenSlides>
  <MMClips>12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Hussain, Shabbir</cp:lastModifiedBy>
  <cp:revision>9</cp:revision>
  <dcterms:created xsi:type="dcterms:W3CDTF">2013-01-27T09:14:16Z</dcterms:created>
  <dcterms:modified xsi:type="dcterms:W3CDTF">2026-06-19T09:11:27Z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2026-06-19T06:53:17Z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307e77e1-0907-425d-96c5-9041e556fd43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